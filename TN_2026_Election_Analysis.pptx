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8B94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TVK</c:v>
                  </c:pt>
                  <c:pt idx="1">
                    <c:v>DMK</c:v>
                  </c:pt>
                  <c:pt idx="2">
                    <c:v>AIADMK</c:v>
                  </c:pt>
                  <c:pt idx="3">
                    <c:v>INC</c:v>
                  </c:pt>
                  <c:pt idx="4">
                    <c:v>PMK</c:v>
                  </c:pt>
                  <c:pt idx="5">
                    <c:v>Others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133</c:v>
                </c:pt>
                <c:pt idx="2">
                  <c:v>66</c:v>
                </c:pt>
                <c:pt idx="3">
                  <c:v>18</c:v>
                </c:pt>
                <c:pt idx="4">
                  <c:v>5</c:v>
                </c:pt>
                <c:pt idx="5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TVK</c:v>
                  </c:pt>
                  <c:pt idx="1">
                    <c:v>DMK</c:v>
                  </c:pt>
                  <c:pt idx="2">
                    <c:v>AIADMK</c:v>
                  </c:pt>
                  <c:pt idx="3">
                    <c:v>INC</c:v>
                  </c:pt>
                  <c:pt idx="4">
                    <c:v>PMK</c:v>
                  </c:pt>
                  <c:pt idx="5">
                    <c:v>Others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108</c:v>
                </c:pt>
                <c:pt idx="1">
                  <c:v>59</c:v>
                </c:pt>
                <c:pt idx="2">
                  <c:v>47</c:v>
                </c:pt>
                <c:pt idx="3">
                  <c:v>5</c:v>
                </c:pt>
                <c:pt idx="4">
                  <c:v>4</c:v>
                </c:pt>
                <c:pt idx="5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bubble3D val="0"/>
            <c:spPr>
              <a:solidFill>
                <a:srgbClr val="F85149"/>
              </a:solidFill>
              <a:effectLst/>
            </c:spPr>
          </c:dPt>
          <c:dPt>
            <c:idx val="2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bubble3D val="0"/>
            <c:spPr>
              <a:solidFill>
                <a:srgbClr val="457B9D"/>
              </a:solidFill>
              <a:effectLst/>
            </c:spPr>
          </c:dPt>
          <c:dPt>
            <c:idx val="4"/>
            <c:bubble3D val="0"/>
            <c:spPr>
              <a:solidFill>
                <a:srgbClr val="E9C46A"/>
              </a:solidFill>
              <a:effectLst/>
            </c:spPr>
          </c:dPt>
          <c:dPt>
            <c:idx val="5"/>
            <c:bubble3D val="0"/>
            <c:spPr>
              <a:solidFill>
                <a:srgbClr val="8ECAE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TVK(108)</c:v>
                </c:pt>
                <c:pt idx="1">
                  <c:v>DMK(59)</c:v>
                </c:pt>
                <c:pt idx="2">
                  <c:v>AIADMK(47)</c:v>
                </c:pt>
                <c:pt idx="3">
                  <c:v>INC(5)</c:v>
                </c:pt>
                <c:pt idx="4">
                  <c:v>PMK(4)</c:v>
                </c:pt>
                <c:pt idx="5">
                  <c:v>Others(11)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108</c:v>
                </c:pt>
                <c:pt idx="1">
                  <c:v>59</c:v>
                </c:pt>
                <c:pt idx="2">
                  <c:v>47</c:v>
                </c:pt>
                <c:pt idx="3">
                  <c:v>5</c:v>
                </c:pt>
                <c:pt idx="4">
                  <c:v>4</c:v>
                </c:pt>
                <c:pt idx="5">
                  <c:v>11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8514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94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949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INC→TVK</c:v>
                  </c:pt>
                  <c:pt idx="1">
                    <c:v>AIADMK→DMK</c:v>
                  </c:pt>
                  <c:pt idx="2">
                    <c:v>DMK→AIADMK</c:v>
                  </c:pt>
                  <c:pt idx="3">
                    <c:v>AIADMK→AIADMK</c:v>
                  </c:pt>
                  <c:pt idx="4">
                    <c:v>AIADMK→TVK</c:v>
                  </c:pt>
                  <c:pt idx="5">
                    <c:v>DMK→DMK</c:v>
                  </c:pt>
                  <c:pt idx="6">
                    <c:v>DMK→TVK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15</c:v>
                </c:pt>
                <c:pt idx="2">
                  <c:v>22</c:v>
                </c:pt>
                <c:pt idx="3">
                  <c:v>22</c:v>
                </c:pt>
                <c:pt idx="4">
                  <c:v>26</c:v>
                </c:pt>
                <c:pt idx="5">
                  <c:v>40</c:v>
                </c:pt>
                <c:pt idx="6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TVK 2026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Chennai</c:v>
                  </c:pt>
                  <c:pt idx="1">
                    <c:v>North</c:v>
                  </c:pt>
                  <c:pt idx="2">
                    <c:v>Central</c:v>
                  </c:pt>
                  <c:pt idx="3">
                    <c:v>Kongu</c:v>
                  </c:pt>
                  <c:pt idx="4">
                    <c:v>Delta</c:v>
                  </c:pt>
                  <c:pt idx="5">
                    <c:v>South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46.6</c:v>
                </c:pt>
                <c:pt idx="1">
                  <c:v>33.1</c:v>
                </c:pt>
                <c:pt idx="2">
                  <c:v>31</c:v>
                </c:pt>
                <c:pt idx="3">
                  <c:v>34.5</c:v>
                </c:pt>
                <c:pt idx="4">
                  <c:v>32.9</c:v>
                </c:pt>
                <c:pt idx="5">
                  <c:v>33.5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DMK 2021</c:v>
                </c:pt>
              </c:strCache>
            </c:strRef>
          </c:tx>
          <c:spPr>
            <a:solidFill>
              <a:srgbClr val="8B94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Chennai</c:v>
                  </c:pt>
                  <c:pt idx="1">
                    <c:v>North</c:v>
                  </c:pt>
                  <c:pt idx="2">
                    <c:v>Central</c:v>
                  </c:pt>
                  <c:pt idx="3">
                    <c:v>Kongu</c:v>
                  </c:pt>
                  <c:pt idx="4">
                    <c:v>Delta</c:v>
                  </c:pt>
                  <c:pt idx="5">
                    <c:v>South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45.3</c:v>
                </c:pt>
                <c:pt idx="1">
                  <c:v>36.8</c:v>
                </c:pt>
                <c:pt idx="2">
                  <c:v>38.9</c:v>
                </c:pt>
                <c:pt idx="3">
                  <c:v>34.4</c:v>
                </c:pt>
                <c:pt idx="4">
                  <c:v>40.6</c:v>
                </c:pt>
                <c:pt idx="5">
                  <c:v>33.2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DMK 2026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Chennai</c:v>
                  </c:pt>
                  <c:pt idx="1">
                    <c:v>North</c:v>
                  </c:pt>
                  <c:pt idx="2">
                    <c:v>Central</c:v>
                  </c:pt>
                  <c:pt idx="3">
                    <c:v>Kongu</c:v>
                  </c:pt>
                  <c:pt idx="4">
                    <c:v>Delta</c:v>
                  </c:pt>
                  <c:pt idx="5">
                    <c:v>South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24.3</c:v>
                </c:pt>
                <c:pt idx="1">
                  <c:v>20.5</c:v>
                </c:pt>
                <c:pt idx="2">
                  <c:v>23.2</c:v>
                </c:pt>
                <c:pt idx="3">
                  <c:v>25.6</c:v>
                </c:pt>
                <c:pt idx="4">
                  <c:v>27.7</c:v>
                </c:pt>
                <c:pt idx="5">
                  <c:v>24.6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AIADMK 2021</c:v>
                </c:pt>
              </c:strCache>
            </c:strRef>
          </c:tx>
          <c:spPr>
            <a:solidFill>
              <a:srgbClr val="4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Chennai</c:v>
                  </c:pt>
                  <c:pt idx="1">
                    <c:v>North</c:v>
                  </c:pt>
                  <c:pt idx="2">
                    <c:v>Central</c:v>
                  </c:pt>
                  <c:pt idx="3">
                    <c:v>Kongu</c:v>
                  </c:pt>
                  <c:pt idx="4">
                    <c:v>Delta</c:v>
                  </c:pt>
                  <c:pt idx="5">
                    <c:v>South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28.3</c:v>
                </c:pt>
                <c:pt idx="1">
                  <c:v>31.7</c:v>
                </c:pt>
                <c:pt idx="2">
                  <c:v>35.6</c:v>
                </c:pt>
                <c:pt idx="3">
                  <c:v>39.5</c:v>
                </c:pt>
                <c:pt idx="4">
                  <c:v>33.6</c:v>
                </c:pt>
                <c:pt idx="5">
                  <c:v>31.8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AIADMK 2026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Chennai</c:v>
                  </c:pt>
                  <c:pt idx="1">
                    <c:v>North</c:v>
                  </c:pt>
                  <c:pt idx="2">
                    <c:v>Central</c:v>
                  </c:pt>
                  <c:pt idx="3">
                    <c:v>Kongu</c:v>
                  </c:pt>
                  <c:pt idx="4">
                    <c:v>Delta</c:v>
                  </c:pt>
                  <c:pt idx="5">
                    <c:v>South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15.9</c:v>
                </c:pt>
                <c:pt idx="1">
                  <c:v>24.9</c:v>
                </c:pt>
                <c:pt idx="2">
                  <c:v>27</c:v>
                </c:pt>
                <c:pt idx="3">
                  <c:v>23.9</c:v>
                </c:pt>
                <c:pt idx="4">
                  <c:v>19.5</c:v>
                </c:pt>
                <c:pt idx="5">
                  <c:v>16.8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TVK</c:v>
                </c:pt>
              </c:strCache>
            </c:strRef>
          </c:tx>
          <c:spPr>
            <a:solidFill>
              <a:srgbClr val="E63946"/>
            </a:solidFill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34.9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DMK</c:v>
                </c:pt>
              </c:strCache>
            </c:strRef>
          </c:tx>
          <c:spPr>
            <a:solidFill>
              <a:srgbClr val="F85149"/>
            </a:solidFill>
            <a:ln w="31750" cap="flat">
              <a:solidFill>
                <a:srgbClr val="F851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85149"/>
              </a:solidFill>
              <a:ln w="9525" cap="flat">
                <a:solidFill>
                  <a:srgbClr val="F851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37.7</c:v>
                </c:pt>
                <c:pt idx="1">
                  <c:v>24.2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AIADMK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2026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33.3</c:v>
                </c:pt>
                <c:pt idx="1">
                  <c:v>21.2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8B94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Dominant
(&gt;50%)</c:v>
                  </c:pt>
                  <c:pt idx="1">
                    <c:v>Competitive
(35–50%)</c:v>
                  </c:pt>
                  <c:pt idx="2">
                    <c:v>Fragmented
(&lt;35%)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162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Dominant
(&gt;50%)</c:v>
                  </c:pt>
                  <c:pt idx="1">
                    <c:v>Competitive
(35–50%)</c:v>
                  </c:pt>
                  <c:pt idx="2">
                    <c:v>Fragmented
(&lt;35%)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</c:v>
                </c:pt>
                <c:pt idx="1">
                  <c:v>157</c:v>
                </c:pt>
                <c:pt idx="2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8B94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DMK</c:v>
                  </c:pt>
                  <c:pt idx="1">
                    <c:v>AIADMK</c:v>
                  </c:pt>
                  <c:pt idx="2">
                    <c:v>TVK</c:v>
                  </c:pt>
                  <c:pt idx="3">
                    <c:v>VCK</c:v>
                  </c:pt>
                  <c:pt idx="4">
                    <c:v>INC</c:v>
                  </c:pt>
                  <c:pt idx="5">
                    <c:v>Others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16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DMK</c:v>
                  </c:pt>
                  <c:pt idx="1">
                    <c:v>AIADMK</c:v>
                  </c:pt>
                  <c:pt idx="2">
                    <c:v>TVK</c:v>
                  </c:pt>
                  <c:pt idx="3">
                    <c:v>VCK</c:v>
                  </c:pt>
                  <c:pt idx="4">
                    <c:v>INC</c:v>
                  </c:pt>
                  <c:pt idx="5">
                    <c:v>Others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23</c:v>
                </c:pt>
                <c:pt idx="3">
                  <c:v>2</c:v>
                </c:pt>
                <c:pt idx="4">
                  <c:v>0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TVK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Chennai Metro
(32)</c:v>
                  </c:pt>
                  <c:pt idx="1">
                    <c:v>North
(37)</c:v>
                  </c:pt>
                  <c:pt idx="2">
                    <c:v>Central
(41)</c:v>
                  </c:pt>
                  <c:pt idx="3">
                    <c:v>Kongu
(33)</c:v>
                  </c:pt>
                  <c:pt idx="4">
                    <c:v>Delta
(33)</c:v>
                  </c:pt>
                  <c:pt idx="5">
                    <c:v>South
(58)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14</c:v>
                </c:pt>
                <c:pt idx="2">
                  <c:v>12</c:v>
                </c:pt>
                <c:pt idx="3">
                  <c:v>18</c:v>
                </c:pt>
                <c:pt idx="4">
                  <c:v>10</c:v>
                </c:pt>
                <c:pt idx="5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DMK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Chennai Metro
(32)</c:v>
                  </c:pt>
                  <c:pt idx="1">
                    <c:v>North
(37)</c:v>
                  </c:pt>
                  <c:pt idx="2">
                    <c:v>Central
(41)</c:v>
                  </c:pt>
                  <c:pt idx="3">
                    <c:v>Kongu
(33)</c:v>
                  </c:pt>
                  <c:pt idx="4">
                    <c:v>Delta
(33)</c:v>
                  </c:pt>
                  <c:pt idx="5">
                    <c:v>South
(58)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4</c:v>
                </c:pt>
                <c:pt idx="2">
                  <c:v>8</c:v>
                </c:pt>
                <c:pt idx="3">
                  <c:v>6</c:v>
                </c:pt>
                <c:pt idx="4">
                  <c:v>14</c:v>
                </c:pt>
                <c:pt idx="5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AIADMK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Chennai Metro
(32)</c:v>
                  </c:pt>
                  <c:pt idx="1">
                    <c:v>North
(37)</c:v>
                  </c:pt>
                  <c:pt idx="2">
                    <c:v>Central
(41)</c:v>
                  </c:pt>
                  <c:pt idx="3">
                    <c:v>Kongu
(33)</c:v>
                  </c:pt>
                  <c:pt idx="4">
                    <c:v>Delta
(33)</c:v>
                  </c:pt>
                  <c:pt idx="5">
                    <c:v>South
(58)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15</c:v>
                </c:pt>
                <c:pt idx="2">
                  <c:v>15</c:v>
                </c:pt>
                <c:pt idx="3">
                  <c:v>9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8ECA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Chennai Metro
(32)</c:v>
                  </c:pt>
                  <c:pt idx="1">
                    <c:v>North
(37)</c:v>
                  </c:pt>
                  <c:pt idx="2">
                    <c:v>Central
(41)</c:v>
                  </c:pt>
                  <c:pt idx="3">
                    <c:v>Kongu
(33)</c:v>
                  </c:pt>
                  <c:pt idx="4">
                    <c:v>Delta
(33)</c:v>
                  </c:pt>
                  <c:pt idx="5">
                    <c:v>South
(58)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4</c:v>
                </c:pt>
                <c:pt idx="2">
                  <c:v>6</c:v>
                </c:pt>
                <c:pt idx="3">
                  <c:v>1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20040"/>
            <a:ext cx="2926080" cy="274320"/>
          </a:xfrm>
          <a:prstGeom prst="rect">
            <a:avLst/>
          </a:prstGeom>
          <a:solidFill>
            <a:srgbClr val="1E2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📺  AtliQ Media  ·  RPC #21  ·  Codebasics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EDF3"/>
                </a:solidFill>
              </a:rPr>
              <a:t>70% of Seats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3946"/>
                </a:solidFill>
              </a:rPr>
              <a:t>Changed Hands.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Decoding the 2026 Tamil Nadu Assembly Election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Q2 · Flip Story   |   Q3 · Vote Share   |   Q6 · Margin Story   |   Bonus · Reserved Seats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946"/>
                </a:solidFill>
              </a:rPr>
              <a:t>108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3913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TVK Seats — debut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324612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5149"/>
                </a:solidFill>
              </a:rPr>
              <a:t>59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514600" y="3913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DMK Seats (was 133)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80560" y="324612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9D8F"/>
                </a:solidFill>
              </a:rPr>
              <a:t>47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72000" y="3913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AIADMK Seats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37960" y="324612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700"/>
                </a:solidFill>
              </a:rPr>
              <a:t>163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629400" y="3913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Seats Flipped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0363D"/>
                </a:solidFill>
              </a:rPr>
              <a:t>Neutral · Fact-based · ECI Data Only · No political positions expressed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8A6FF"/>
                </a:solidFill>
              </a:rPr>
              <a:t>THE BIG PICTURE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The 2021 Political Map Is Almost Unrecognisable in 2026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 party that did not exist five years ago is now the largest party in the Assembly.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852160" y="1280160"/>
          <a:ext cx="2926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4160520"/>
            <a:ext cx="54864" cy="685800"/>
          </a:xfrm>
          <a:prstGeom prst="rect">
            <a:avLst/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815584" y="4160520"/>
            <a:ext cx="2962656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25312" y="42062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BIGGEST SWING — DMK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925312" y="4416552"/>
            <a:ext cx="2761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133 → 59 seats  (−74). Ruling party also lost CM's own constituency.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Source: ECI results portal · tn_2026_results.csv · tn_2021_results.csv · constituency_master.csv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8A6FF"/>
                </a:solidFill>
              </a:rPr>
              <a:t>RESEARCH QUESTION 2  ·  THE FLIP STORY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163 of 234 Seats Changed Hands — 70% of the Map Redrawn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TVK gained 108 seats: 65 from DMK, 26 from AIADMK, 11 from INC.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80160"/>
            <a:ext cx="54864" cy="731520"/>
          </a:xfrm>
          <a:prstGeom prst="rect">
            <a:avLst/>
          </a:prstGeom>
          <a:solidFill>
            <a:srgbClr val="FFD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32704" y="1280160"/>
            <a:ext cx="3145536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42432" y="132588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SEATS FLIPPED TOTAL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742432" y="1536192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163 / 234  (70%)  —  biggest reshuffle in recent TN history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77840" y="2148840"/>
            <a:ext cx="54864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32704" y="2148840"/>
            <a:ext cx="3145536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42432" y="219456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TVK TOOK MOST FROM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742432" y="2404872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65 seats from DMK  ·  26 from AIADMK  ·  11 from INC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577840" y="3017520"/>
            <a:ext cx="54864" cy="731520"/>
          </a:xfrm>
          <a:prstGeom prst="rect">
            <a:avLst/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32704" y="3017520"/>
            <a:ext cx="3145536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2432" y="306324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DMK HELD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742432" y="3273552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Only 40 of its 133 seats (30% retention rate)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577840" y="3886200"/>
            <a:ext cx="54864" cy="73152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32704" y="3886200"/>
            <a:ext cx="3145536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42432" y="393192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AIADMK HELD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742432" y="4142232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22 of 66 seats (33% retention — better than DMK)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Source: ECI results portal · tn_2026_results.csv · tn_2021_results.csv · constituency_master.csv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8A6FF"/>
                </a:solidFill>
              </a:rPr>
              <a:t>RESEARCH QUESTION 3  ·  THE VOTE SHARE STORY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TVK's 34.9% on Debut: Where Did It Come From?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DMK dropped 13.5 pts · AIADMK dropped 12.1 pts · NTK+MNM dissolution ~5 pts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577840" y="1280160"/>
          <a:ext cx="32004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577840" y="3611880"/>
            <a:ext cx="54864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632704" y="3611880"/>
            <a:ext cx="3145536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42432" y="365760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STRONGEST REGION FOR TVK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742432" y="3867912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Chennai Metro — 46.6%  (DMK dropped 21 pts here)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577840" y="4389120"/>
            <a:ext cx="54864" cy="54864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632704" y="4389120"/>
            <a:ext cx="3145536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42432" y="443484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AIADMK STEEPEST DROP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5742432" y="46451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Kongu region — AIADMK fell 15.6 pts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Source: ECI results portal · tn_2026_results.csv · tn_2021_results.csv · constituency_master.csv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8A6FF"/>
                </a:solidFill>
              </a:rPr>
              <a:t>RESEARCH QUESTION 6  ·  THE MARGIN OF VICTORY STORY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Seats Won With &gt;50% Share: 70 in 2021. Just 13 in 2026.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Three-way competition compressed margins. 64 seats won with under 35% of the vote.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80160"/>
            <a:ext cx="32004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325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FB950"/>
                </a:solidFill>
              </a:rPr>
              <a:t>22,871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669280" y="1947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Avg margin 2021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577840" y="2331720"/>
            <a:ext cx="32004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7784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7316"/>
                </a:solidFill>
              </a:rPr>
              <a:t>16,784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5669280" y="2999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Avg margin 2026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577840" y="3383280"/>
            <a:ext cx="54864" cy="685800"/>
          </a:xfrm>
          <a:prstGeom prst="rect">
            <a:avLst/>
          </a:prstGeom>
          <a:solidFill>
            <a:srgbClr val="FFD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32704" y="3383280"/>
            <a:ext cx="3145536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42432" y="342900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SMALLEST MARGIN 2026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742432" y="3639312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1 vote — Tiruppattur (AC 185)  TVK 83,375 vs DMK 83,374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577840" y="4187952"/>
            <a:ext cx="54864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32704" y="4187952"/>
            <a:ext cx="3145536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42432" y="423367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LARGEST MARGIN 2026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742432" y="4443984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98,110 — Edappadi (AC 86)  AIADMK: 1,48,933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Source: ECI results portal · tn_2026_results.csv · tn_2021_results.csv · constituency_master.csv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8A6FF"/>
                </a:solidFill>
              </a:rPr>
              <a:t>BONUS  ·  RESEARCH QUESTION 4  ·  RESERVED SEAT STORY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TVK's Win Rate Was Higher in SC Seats Than General Seats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44 SC + 2 ST reserved constituencies. TVK won 23/44 SC seats (52.3%) vs 44.7% in GEN seats.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80160"/>
            <a:ext cx="54864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32704" y="1280160"/>
            <a:ext cx="3145536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42432" y="132588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TVK WIN RATE — SC SEATS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742432" y="1536192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52.3%  (23 of 44)  —  higher than GEN seats (44.7%)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77840" y="2148840"/>
            <a:ext cx="54864" cy="731520"/>
          </a:xfrm>
          <a:prstGeom prst="rect">
            <a:avLst/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32704" y="2148840"/>
            <a:ext cx="3145536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42432" y="219456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DMK SC COLLAPSE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742432" y="2404872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Held 21/44 SC seats in 2021 → only 9/44 in 2026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577840" y="3017520"/>
            <a:ext cx="54864" cy="73152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32704" y="3017520"/>
            <a:ext cx="3145536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2432" y="306324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AIADMK SC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742432" y="3273552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16 → 8 SC seats. Halved but retained presence.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577840" y="3886200"/>
            <a:ext cx="54864" cy="731520"/>
          </a:xfrm>
          <a:prstGeom prst="rect">
            <a:avLst/>
          </a:prstGeom>
          <a:solidFill>
            <a:srgbClr val="8ECA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32704" y="3886200"/>
            <a:ext cx="3145536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42432" y="393192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VCK HELD BOTH SC SEATS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742432" y="4142232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Tindivanam (AC 72) &amp; Kattumannarkoil (AC 159)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Source: ECI results portal · tn_2026_results.csv · tn_2021_results.csv · constituency_master.csv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8A6FF"/>
                </a:solidFill>
              </a:rPr>
              <a:t>SUPPORTING STORY  ·  THE SIX REGIONS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One Election, Six Different Stories Across Tamil Nadu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8412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Source: ECI results portal · tn_2026_results.csv · tn_2021_results.csv · constituency_master.csv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8A6FF"/>
                </a:solidFill>
              </a:rPr>
              <a:t>HONESTY ABOUT THE DATA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What This Analysis Can and Cannot Say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4864" cy="777240"/>
          </a:xfrm>
          <a:prstGeom prst="rect">
            <a:avLst/>
          </a:prstGeom>
          <a:solidFill>
            <a:srgbClr val="FFD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280160"/>
            <a:ext cx="8357616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2588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2026 TURNOUT DATA MISSING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1536192"/>
            <a:ext cx="8156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The turnout column in tn_2026_results.csv is intentionally blank — ECI Form-20 not released at data prep time. State average (85.14%) sourced from ECI portal announcement only.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54864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" y="2194560"/>
            <a:ext cx="8357616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24028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LIVE PORTAL DATA — NOT FINAL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0352" y="2450592"/>
            <a:ext cx="8156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CSV sourced from ECI live results. Minor discrepancies vs final Form-20 audited figures are possible.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54864" cy="777240"/>
          </a:xfrm>
          <a:prstGeom prst="rect">
            <a:avLst/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" y="3108960"/>
            <a:ext cx="8357616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15468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NO CAUSAL CLAIMS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3364992"/>
            <a:ext cx="8156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Data shows where vote share moved. It does not explain why. No voter survey, exit poll or demographic data used.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54864" cy="777240"/>
          </a:xfrm>
          <a:prstGeom prst="rect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4023360"/>
            <a:ext cx="8357616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406908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CENSUS NOT USED FOR DEMOGRAPHICS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0352" y="4279392"/>
            <a:ext cx="8156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Census 2011 boundaries are available but no demographic claims about voter communities are made.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Source: ECI results portal · tn_2026_results.csv · tn_2021_results.csv · constituency_master.csv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8A6FF"/>
                </a:solidFill>
              </a:rPr>
              <a:t>EDITORIAL RECOMMENDATION  ·  ATLIQ MEDIA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Three Stories. One Hour. The Show's Headline: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1E2A3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6EDF3"/>
                </a:solidFill>
              </a:rPr>
              <a:t>"In 2026, 7 in 10 Tamil Nadu seats changed hands — and the winner did not exist 5 years ago."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26974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40280"/>
            <a:ext cx="269748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402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0–15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4963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The Redrawn 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163 seats changed hands. Show the Sankey. Chennai Metro 26/32.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27832" y="2240280"/>
            <a:ext cx="26974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2240280"/>
            <a:ext cx="2697480" cy="228600"/>
          </a:xfrm>
          <a:prstGeom prst="rect">
            <a:avLst/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22402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15–35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9272" y="24963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The Vote Share Shift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283464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TVK 34.9% debut. DMK fell 21pts in Chennai. AIADMK fell 15pts in Kongu.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9904" y="2240280"/>
            <a:ext cx="26974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2240280"/>
            <a:ext cx="2697480" cy="228600"/>
          </a:xfrm>
          <a:prstGeom prst="rect">
            <a:avLst/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22402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1344" y="24963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Competition Intensified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81344" y="283464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64 seats won under 35%. One seat by 1 vote. Margin histogram.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54864" cy="685800"/>
          </a:xfrm>
          <a:prstGeom prst="rect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3840480"/>
            <a:ext cx="8357616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88620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TONE RULE (NON-NEGOTIABLE)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30352" y="4096512"/>
            <a:ext cx="81564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Every chart title reads the same to a supporter of any party. No causal claims. No predictions. ECI vote counts only.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Analyst: Nandhini  ·  Challenge: Codebasics RPC #21  ·  All data from ECI  ·  No political positions expressed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 the 2026 Tamil Nadu Election — AtliQ Media</dc:title>
  <dc:subject>PptxGenJS Presentation</dc:subject>
  <dc:creator>Nandhini</dc:creator>
  <cp:lastModifiedBy>Nandhini</cp:lastModifiedBy>
  <cp:revision>1</cp:revision>
  <dcterms:created xsi:type="dcterms:W3CDTF">2026-06-02T18:24:11Z</dcterms:created>
  <dcterms:modified xsi:type="dcterms:W3CDTF">2026-06-02T18:24:11Z</dcterms:modified>
</cp:coreProperties>
</file>